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embeddedFontLst>
    <p:embeddedFont>
      <p:font typeface="Roboto" panose="02000000000000000000" pitchFamily="2" charset="0"/>
      <p:regular r:id="rId27"/>
      <p:bold r:id="rId28"/>
    </p:embeddedFont>
    <p:embeddedFont>
      <p:font typeface="Roboto Slab" pitchFamily="2" charset="0"/>
      <p:regular r:id="rId29"/>
    </p:embeddedFont>
    <p:embeddedFont>
      <p:font typeface="Roboto Slab Light" pitchFamily="2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7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79229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24: 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462040"/>
            <a:ext cx="480236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Analyze &amp; Synthesize</a:t>
            </a:r>
            <a:endParaRPr lang="en-US" sz="3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503" y="505619"/>
            <a:ext cx="4679734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46503" y="1334790"/>
            <a:ext cx="11308273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session, you'll have accomplished four critical milestones: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6503" y="1838027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2095698"/>
            <a:ext cx="5269178" cy="19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6503" y="2215158"/>
            <a:ext cx="2352418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Understood the 5 Lenses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6503" y="2565598"/>
            <a:ext cx="52691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analyzing AI in your domain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175915" y="1838027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915" y="2095698"/>
            <a:ext cx="5269277" cy="19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5915" y="2215158"/>
            <a:ext cx="22180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Drafted Bias &amp; Fairness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175915" y="2565598"/>
            <a:ext cx="52692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mentor coaching 150–200 words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46503" y="3106341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3347740"/>
            <a:ext cx="5269178" cy="19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6503" y="3483471"/>
            <a:ext cx="272735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Drafted Safety &amp; Governance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6503" y="3833912"/>
            <a:ext cx="52691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mentor coaching 150–200 words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175915" y="3106341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915" y="3347740"/>
            <a:ext cx="5269277" cy="190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75915" y="3483471"/>
            <a:ext cx="203502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Mapped Homework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175915" y="3833912"/>
            <a:ext cx="52692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plan for everything coming next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746503" y="4394696"/>
            <a:ext cx="1130827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46503" y="4800898"/>
            <a:ext cx="10698689" cy="1338560"/>
          </a:xfrm>
          <a:prstGeom prst="roundRect">
            <a:avLst>
              <a:gd name="adj" fmla="val 182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18" y="5036245"/>
            <a:ext cx="254291" cy="2034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6224" y="5018286"/>
            <a:ext cx="9956253" cy="968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In-class focus today: the two new analysis sections. Everything else polish, Conclusion, Abstract, AI Attribution, full Gamma deck - happens in homework. Mentor scaffolds both section drafts heavily. This is the heaviest writing day of the capstone.</a:t>
            </a:r>
            <a:endParaRPr lang="en-US" sz="16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3A8F44A-0370-C4E1-1AD5-AFAFE92EC6E6}"/>
              </a:ext>
            </a:extLst>
          </p:cNvPr>
          <p:cNvCxnSpPr>
            <a:cxnSpLocks/>
          </p:cNvCxnSpPr>
          <p:nvPr/>
        </p:nvCxnSpPr>
        <p:spPr>
          <a:xfrm>
            <a:off x="737172" y="2105223"/>
            <a:ext cx="526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7AABC3-F0A6-A256-B573-01A8B6993FF8}"/>
              </a:ext>
            </a:extLst>
          </p:cNvPr>
          <p:cNvCxnSpPr/>
          <p:nvPr/>
        </p:nvCxnSpPr>
        <p:spPr>
          <a:xfrm>
            <a:off x="6152039" y="2108338"/>
            <a:ext cx="526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C5527C-755D-BCCE-4CBC-F7BE92E1C3F2}"/>
              </a:ext>
            </a:extLst>
          </p:cNvPr>
          <p:cNvCxnSpPr/>
          <p:nvPr/>
        </p:nvCxnSpPr>
        <p:spPr>
          <a:xfrm>
            <a:off x="715407" y="3371085"/>
            <a:ext cx="526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9CC448D-127A-1C79-6500-C787E0C11829}"/>
              </a:ext>
            </a:extLst>
          </p:cNvPr>
          <p:cNvCxnSpPr/>
          <p:nvPr/>
        </p:nvCxnSpPr>
        <p:spPr>
          <a:xfrm>
            <a:off x="6130275" y="3364865"/>
            <a:ext cx="526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51843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Today's Work: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834654"/>
            <a:ext cx="508027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 Class vs. Homework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661574" y="2599432"/>
            <a:ext cx="5351626" cy="3006725"/>
          </a:xfrm>
          <a:prstGeom prst="roundRect">
            <a:avLst>
              <a:gd name="adj" fmla="val 82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783780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In Class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3147814"/>
            <a:ext cx="4982939" cy="71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📝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Bias &amp; Fairness section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🛡️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Safety &amp; Governance section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8495" y="2599432"/>
            <a:ext cx="5351626" cy="3006725"/>
          </a:xfrm>
          <a:prstGeom prst="roundRect">
            <a:avLst>
              <a:gd name="adj" fmla="val 82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62838" y="2783780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🏠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Homework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2838" y="3147814"/>
            <a:ext cx="4982939" cy="227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✨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Polish all 6 prior sections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🎯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Draft Conclusion &amp; Future Work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📋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Write Final Abstract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📜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Write AI Attribution Statement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🎨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Build all 9 Gamma slides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🎤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Practice presentation aloud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91816"/>
            <a:ext cx="775206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5 Lenses - Your Analysis Toolkit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039243"/>
            <a:ext cx="10868547" cy="3626842"/>
          </a:xfrm>
          <a:prstGeom prst="roundRect">
            <a:avLst>
              <a:gd name="adj" fmla="val 68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3417" y="2151162"/>
            <a:ext cx="323822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92641" y="2151162"/>
            <a:ext cx="521401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Looks 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417" y="2699445"/>
            <a:ext cx="323822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⚖️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Bias &amp; Fairness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92641" y="2699445"/>
            <a:ext cx="521401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AI works for · who it fails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417" y="3247727"/>
            <a:ext cx="323822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🛡️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Safety &amp; Governance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2641" y="3247727"/>
            <a:ext cx="521401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harms · who's responsible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3417" y="3796010"/>
            <a:ext cx="323822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🤔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Ethics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92641" y="3796010"/>
            <a:ext cx="460442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values are at stake · who benefits · who could be hurt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417" y="4675088"/>
            <a:ext cx="323822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🤝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Human-in-the-Loop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2641" y="4675088"/>
            <a:ext cx="521401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humans oversee · where they should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417" y="5223371"/>
            <a:ext cx="323822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🗣️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Voice Integrity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92641" y="5223371"/>
            <a:ext cx="5214013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Whether YOUR paper sounds like YOU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937345"/>
            <a:ext cx="5780042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Lens 1 - Bias &amp; Fairness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⚖️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803823"/>
            <a:ext cx="10868547" cy="595412"/>
          </a:xfrm>
          <a:prstGeom prst="roundRect">
            <a:avLst>
              <a:gd name="adj" fmla="val 41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6868" y="2969121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📊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Data Bias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574" y="3564533"/>
            <a:ext cx="10868547" cy="595412"/>
          </a:xfrm>
          <a:prstGeom prst="roundRect">
            <a:avLst>
              <a:gd name="adj" fmla="val 41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6868" y="3729831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⚙️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Algorithm Bias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4325243"/>
            <a:ext cx="10868547" cy="595412"/>
          </a:xfrm>
          <a:prstGeom prst="roundRect">
            <a:avLst>
              <a:gd name="adj" fmla="val 41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6868" y="4490541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👤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Human Bias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2259310"/>
            <a:ext cx="898244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Bias Questions to Ask About YOUR Domain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3106737"/>
            <a:ext cx="5351626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3291086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Populations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8495" y="3106737"/>
            <a:ext cx="5351626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62838" y="329108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Published Failures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397152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5918" y="415587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Patterns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8495" y="397152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62838" y="415587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Testing Signals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070273"/>
            <a:ext cx="5750674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Bias - A Concrete Example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653084"/>
            <a:ext cx="620439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Domain: Food Allergy Management for Children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574" y="2211189"/>
            <a:ext cx="10868547" cy="357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📚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Sources Revealed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Allergen-detection AI is mostly trained on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Western foods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means it underperforms on non-Western cuisines.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🛠️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Exploration Confirmed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classifier handled Snickers and peanut butter reliably - but had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training data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Asian peanut sauces, African peanut stews, or Middle Eastern peanut-based sweets.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🎯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Specific Claim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"This data gap means the tool could fail for the families whose foods include these dishes - families who are NOT less in need of allergen support. Just less represented in training data."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2169393"/>
            <a:ext cx="1050095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Draft 1 - Draft Your Bias &amp; Fairness Section!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746474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3158360"/>
            <a:ext cx="165294" cy="16529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4" y="3366620"/>
            <a:ext cx="5351626" cy="19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574" y="348736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State the Issue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8495" y="3158360"/>
            <a:ext cx="165294" cy="16529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495" y="3366620"/>
            <a:ext cx="5351626" cy="190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178495" y="348736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Source Evidence</a:t>
            </a:r>
            <a:endParaRPr lang="en-US" sz="1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574" y="4055794"/>
            <a:ext cx="165294" cy="165298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4" y="4280524"/>
            <a:ext cx="5351626" cy="190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61574" y="4417843"/>
            <a:ext cx="208800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Exploration Evidence</a:t>
            </a:r>
            <a:endParaRPr lang="en-US" sz="16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495" y="4055794"/>
            <a:ext cx="165294" cy="165298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495" y="4280524"/>
            <a:ext cx="5351626" cy="1905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6178495" y="4417843"/>
            <a:ext cx="23351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Connect to Frameworks</a:t>
            </a:r>
            <a:endParaRPr lang="en-US" sz="1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57DE94-244E-29C1-C200-694499232409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661574" y="3376145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7D9C24-83A1-1593-7B34-0EA1AB6366DB}"/>
              </a:ext>
            </a:extLst>
          </p:cNvPr>
          <p:cNvCxnSpPr/>
          <p:nvPr/>
        </p:nvCxnSpPr>
        <p:spPr>
          <a:xfrm>
            <a:off x="6160413" y="3379251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A9A1FD-6FBC-9E2E-B1D8-37A89C0C2EBD}"/>
              </a:ext>
            </a:extLst>
          </p:cNvPr>
          <p:cNvCxnSpPr/>
          <p:nvPr/>
        </p:nvCxnSpPr>
        <p:spPr>
          <a:xfrm>
            <a:off x="664683" y="4321650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9E75A7-00BC-D74D-D919-B692CA1ADBBF}"/>
              </a:ext>
            </a:extLst>
          </p:cNvPr>
          <p:cNvCxnSpPr/>
          <p:nvPr/>
        </p:nvCxnSpPr>
        <p:spPr>
          <a:xfrm>
            <a:off x="6141744" y="4321650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997670"/>
            <a:ext cx="6358374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Lens 2 - Safety &amp; Governance 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762448"/>
            <a:ext cx="10868547" cy="589062"/>
          </a:xfrm>
          <a:prstGeom prst="roundRect">
            <a:avLst>
              <a:gd name="adj" fmla="val 421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6868" y="292774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Misuse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574" y="3516809"/>
            <a:ext cx="10868547" cy="589062"/>
          </a:xfrm>
          <a:prstGeom prst="roundRect">
            <a:avLst>
              <a:gd name="adj" fmla="val 421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6868" y="368210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Privacy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4271169"/>
            <a:ext cx="10868547" cy="589062"/>
          </a:xfrm>
          <a:prstGeom prst="roundRect">
            <a:avLst>
              <a:gd name="adj" fmla="val 421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6868" y="443646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Accountability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2295426"/>
            <a:ext cx="936720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Safety Questions to Ask About YOUR Domain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3142853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332720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Realistic Misuse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8495" y="3142853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62838" y="332720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Sensitive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3935313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5918" y="41196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Accountability Gap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8495" y="3935313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62838" y="41196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Concerns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02882"/>
            <a:ext cx="5859614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Safety - A Concrete Example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574" y="1353447"/>
            <a:ext cx="5926783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Domain: Food Allergy Management for Children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574" y="1871765"/>
            <a:ext cx="10868547" cy="365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Most Serious Concern: Misplaced Trust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 reported that consumer-facing allergen detection often shows </a:t>
            </a: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confidence even when WRONG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 algn="l">
              <a:lnSpc>
                <a:spcPct val="130000"/>
              </a:lnSpc>
              <a:buNone/>
            </a:pP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🛠️</a:t>
            </a: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Exploration Revealed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the classifier misidentified a Snickers bar as peanut-free, it did so with </a:t>
            </a: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confidence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parent or child trusting that = a life-threatening reaction.</a:t>
            </a:r>
          </a:p>
          <a:p>
            <a:pPr marL="0" indent="0" algn="l">
              <a:lnSpc>
                <a:spcPct val="130000"/>
              </a:lnSpc>
              <a:buNone/>
            </a:pP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⚖️</a:t>
            </a: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Accountability Gap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a child consumes an allergen, who's responsible?</a:t>
            </a: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parent?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app maker?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platform?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1574" y="5023747"/>
            <a:ext cx="10868547" cy="1023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769864"/>
            <a:ext cx="10868547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Section Draft 2 - Draft Your Safety &amp; Governance Section!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3187700"/>
            <a:ext cx="165294" cy="16529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4" y="3395960"/>
            <a:ext cx="5351626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574" y="351670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Name the Concerns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8495" y="3187700"/>
            <a:ext cx="165294" cy="16529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495" y="3395960"/>
            <a:ext cx="5351626" cy="190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178495" y="3516709"/>
            <a:ext cx="535162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Address ALL Three Categories Misuse, privacy, accountability</a:t>
            </a:r>
            <a:endParaRPr lang="en-US" sz="16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574" y="4343598"/>
            <a:ext cx="165294" cy="16529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4" y="4568329"/>
            <a:ext cx="5351626" cy="1905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61574" y="4705648"/>
            <a:ext cx="224883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Connect to YOUR Work</a:t>
            </a:r>
            <a:endParaRPr lang="en-US" sz="16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495" y="4343598"/>
            <a:ext cx="165294" cy="165298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495" y="4568329"/>
            <a:ext cx="5351626" cy="1905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6178495" y="4705648"/>
            <a:ext cx="22260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Note Human Oversight</a:t>
            </a:r>
            <a:endParaRPr lang="en-US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DBD03C-F998-7546-62E0-7E47E1F06990}"/>
              </a:ext>
            </a:extLst>
          </p:cNvPr>
          <p:cNvCxnSpPr>
            <a:cxnSpLocks/>
          </p:cNvCxnSpPr>
          <p:nvPr/>
        </p:nvCxnSpPr>
        <p:spPr>
          <a:xfrm>
            <a:off x="658915" y="3414622"/>
            <a:ext cx="5186332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130C1A-9025-C1FE-17B1-93A63FC63271}"/>
              </a:ext>
            </a:extLst>
          </p:cNvPr>
          <p:cNvCxnSpPr>
            <a:cxnSpLocks/>
          </p:cNvCxnSpPr>
          <p:nvPr/>
        </p:nvCxnSpPr>
        <p:spPr>
          <a:xfrm>
            <a:off x="6129762" y="3427061"/>
            <a:ext cx="5186332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698F75-62B2-8743-DC9B-C6EF52D3BFBB}"/>
              </a:ext>
            </a:extLst>
          </p:cNvPr>
          <p:cNvCxnSpPr>
            <a:cxnSpLocks/>
          </p:cNvCxnSpPr>
          <p:nvPr/>
        </p:nvCxnSpPr>
        <p:spPr>
          <a:xfrm>
            <a:off x="658915" y="4608943"/>
            <a:ext cx="5186332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9EC6A7-D2FB-60FF-0C0A-24DB1179CF0D}"/>
              </a:ext>
            </a:extLst>
          </p:cNvPr>
          <p:cNvCxnSpPr>
            <a:cxnSpLocks/>
          </p:cNvCxnSpPr>
          <p:nvPr/>
        </p:nvCxnSpPr>
        <p:spPr>
          <a:xfrm>
            <a:off x="6182632" y="4618272"/>
            <a:ext cx="5186332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13904"/>
            <a:ext cx="805447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Lenses 3, 4, 5 - How to Weave Them In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1761331"/>
            <a:ext cx="10868547" cy="1394321"/>
          </a:xfrm>
          <a:prstGeom prst="roundRect">
            <a:avLst>
              <a:gd name="adj" fmla="val 1779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1945680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🤔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Ethics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918" y="2309713"/>
            <a:ext cx="1049985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1–2 sentences about who benefits, who could be harmed, and what values are in tension. Place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inside Bias OR Safety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1574" y="3320951"/>
            <a:ext cx="10868547" cy="1063526"/>
          </a:xfrm>
          <a:prstGeom prst="roundRect">
            <a:avLst>
              <a:gd name="adj" fmla="val 233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5918" y="3505299"/>
            <a:ext cx="227254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🤝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Human-in-the-Loop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918" y="3869333"/>
            <a:ext cx="1049985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 where human oversight exists, where it's missing, where it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SHOULD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 added. Place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inside Safety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574" y="4549775"/>
            <a:ext cx="10868547" cy="1394321"/>
          </a:xfrm>
          <a:prstGeom prst="roundRect">
            <a:avLst>
              <a:gd name="adj" fmla="val 1779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5918" y="4734123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🗣️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Voice Integrity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918" y="5098157"/>
            <a:ext cx="1049985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lens you apply to YOUR paper - every sentence must sound like YOU. Read aloud. If it doesn't sound like you → rewrite. Applies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your entire paper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966119"/>
            <a:ext cx="734061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AI-Sounding Phrases to Watch For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730897"/>
            <a:ext cx="259311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91524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Overly Polished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9985" y="2730897"/>
            <a:ext cx="259321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04329" y="291524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Hollow Phrases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8495" y="2730897"/>
            <a:ext cx="259311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62838" y="291524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Unusual Vocabulary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36905" y="2730897"/>
            <a:ext cx="259321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21249" y="291524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Generic Claims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574" y="3544094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574" y="3994745"/>
            <a:ext cx="10868547" cy="711002"/>
          </a:xfrm>
          <a:prstGeom prst="roundRect">
            <a:avLst>
              <a:gd name="adj" fmla="val 34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4238923"/>
            <a:ext cx="258359" cy="20667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50522" y="4184848"/>
            <a:ext cx="1072389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spot them: 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REWRITE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Don't swap one phrase for another. Actually think through what you mean. 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692176"/>
            <a:ext cx="943755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Walk-Through - What Homework Looks Like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53960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801541"/>
            <a:ext cx="5351626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574" y="2922290"/>
            <a:ext cx="25295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Polish All 6 Prior Sections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78495" y="253960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95" y="2801541"/>
            <a:ext cx="5351626" cy="19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78495" y="2922290"/>
            <a:ext cx="30905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 Conclusion &amp; Future Work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61574" y="347007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3715544"/>
            <a:ext cx="5351626" cy="19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574" y="385276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Write Final Abstract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178495" y="347007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95" y="3715544"/>
            <a:ext cx="5351626" cy="190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78495" y="3852763"/>
            <a:ext cx="29920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Write AI Attribution Statement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61574" y="440055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4629448"/>
            <a:ext cx="5351626" cy="190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574" y="4783237"/>
            <a:ext cx="24736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 All 9 Gamma Slides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6178495" y="440055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95" y="4629448"/>
            <a:ext cx="5351626" cy="190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78495" y="4783237"/>
            <a:ext cx="27190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Practice Presentation Aloud</a:t>
            </a:r>
            <a:endParaRPr lang="en-US" sz="16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E6DA90-8A70-BC63-5AB8-15C943A3AFA5}"/>
              </a:ext>
            </a:extLst>
          </p:cNvPr>
          <p:cNvCxnSpPr>
            <a:cxnSpLocks/>
          </p:cNvCxnSpPr>
          <p:nvPr/>
        </p:nvCxnSpPr>
        <p:spPr>
          <a:xfrm>
            <a:off x="642912" y="2811066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EEC3617-71B9-7108-C0C8-2E6753AB8969}"/>
              </a:ext>
            </a:extLst>
          </p:cNvPr>
          <p:cNvCxnSpPr/>
          <p:nvPr/>
        </p:nvCxnSpPr>
        <p:spPr>
          <a:xfrm>
            <a:off x="6151085" y="2804845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E47E58D3-4620-F81D-8817-6C6BB8DD7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80" y="3719053"/>
            <a:ext cx="5351626" cy="19050"/>
          </a:xfrm>
          <a:prstGeom prst="rect">
            <a:avLst/>
          </a:prstGeom>
        </p:spPr>
      </p:pic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EDC1AEC8-2E63-BA58-58C0-F49DBB13F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74" y="3728384"/>
            <a:ext cx="5351626" cy="190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926541-0928-00EF-9FBD-FB2F5B778317}"/>
              </a:ext>
            </a:extLst>
          </p:cNvPr>
          <p:cNvCxnSpPr>
            <a:cxnSpLocks/>
          </p:cNvCxnSpPr>
          <p:nvPr/>
        </p:nvCxnSpPr>
        <p:spPr>
          <a:xfrm>
            <a:off x="636687" y="3728578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C3958A-EFEE-74C9-4FF0-BDB38CE976ED}"/>
              </a:ext>
            </a:extLst>
          </p:cNvPr>
          <p:cNvCxnSpPr/>
          <p:nvPr/>
        </p:nvCxnSpPr>
        <p:spPr>
          <a:xfrm>
            <a:off x="6163526" y="3731688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E42E32F9-5E6B-9943-1BEA-BC279DD12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69" y="4661444"/>
            <a:ext cx="5351626" cy="19050"/>
          </a:xfrm>
          <a:prstGeom prst="rect">
            <a:avLst/>
          </a:prstGeom>
        </p:spPr>
      </p:pic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0E3287CC-B087-00E5-F8B5-C58998C2F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290" y="4661444"/>
            <a:ext cx="5351626" cy="1905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76DD8D5-1F24-BAA8-C767-7AB168C7D776}"/>
              </a:ext>
            </a:extLst>
          </p:cNvPr>
          <p:cNvCxnSpPr>
            <a:cxnSpLocks/>
          </p:cNvCxnSpPr>
          <p:nvPr/>
        </p:nvCxnSpPr>
        <p:spPr>
          <a:xfrm>
            <a:off x="655352" y="4661638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175D2F6-FE34-CE8D-E020-6C8697E13E2B}"/>
              </a:ext>
            </a:extLst>
          </p:cNvPr>
          <p:cNvCxnSpPr/>
          <p:nvPr/>
        </p:nvCxnSpPr>
        <p:spPr>
          <a:xfrm>
            <a:off x="6163528" y="4664748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404541"/>
            <a:ext cx="571436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Polish - How to Do It Right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169319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35366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Read Aloud for Voice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8495" y="2169319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62838" y="235366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Check Every Claim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2961779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5918" y="314612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Check Transitions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8495" y="2961779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62838" y="314612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Cut Filler Words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574" y="3774976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574" y="4225627"/>
            <a:ext cx="10868547" cy="1041797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4469805"/>
            <a:ext cx="258359" cy="20667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50522" y="4415730"/>
            <a:ext cx="10114305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Polish until it's clearly yours, well-cited, flows. Then 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Don't polish until it's "perfect." That's a trap. Voice and clarity matter more than fancy.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2285901"/>
            <a:ext cx="5849890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Drafting the Conclusion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315237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3336727"/>
            <a:ext cx="241174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Restate the Investigation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8495" y="315237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62838" y="333672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Summarize Findings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394483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5918" y="412918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State the Takeaway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8495" y="3944838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62838" y="412918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Point Forward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06152"/>
            <a:ext cx="6888883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Writing Your FINAL Abstract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📝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1672630"/>
            <a:ext cx="10868547" cy="3296047"/>
          </a:xfrm>
          <a:prstGeom prst="roundRect">
            <a:avLst>
              <a:gd name="adj" fmla="val 75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3317" y="1784548"/>
            <a:ext cx="353567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89992" y="1784548"/>
            <a:ext cx="787806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 You Can Write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317" y="2332831"/>
            <a:ext cx="353567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89992" y="2332831"/>
            <a:ext cx="787806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your domain mattered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3317" y="2881114"/>
            <a:ext cx="353567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89992" y="2881114"/>
            <a:ext cx="787806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sharpened research question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317" y="3429397"/>
            <a:ext cx="353567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89992" y="3429397"/>
            <a:ext cx="787806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investigated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317" y="3977680"/>
            <a:ext cx="353567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89992" y="3977680"/>
            <a:ext cx="787806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ACTUALLY found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3317" y="4525963"/>
            <a:ext cx="3535671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89992" y="4525963"/>
            <a:ext cx="787806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 for your domain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1574" y="5154712"/>
            <a:ext cx="10868547" cy="711002"/>
          </a:xfrm>
          <a:prstGeom prst="roundRect">
            <a:avLst>
              <a:gd name="adj" fmla="val 34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398889"/>
            <a:ext cx="258359" cy="20667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50522" y="5344815"/>
            <a:ext cx="1072389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Abstract is the last thing you write - but it appears 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your paper. Write it after everything else is done.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455017"/>
            <a:ext cx="6023320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Attribution Statement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📜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238845"/>
            <a:ext cx="10868547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short statement disclosing what AI tools helped - and what YOU did yourself. It's not a confession. It's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TRANSPARENCY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the standard for modern research.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574" y="2148483"/>
            <a:ext cx="322413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Each AI Tool You Used: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574" y="2654995"/>
            <a:ext cx="10868547" cy="1108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tool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used it for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verified its output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574" y="4011116"/>
            <a:ext cx="30729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Also State What YOU Did: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574" y="4517628"/>
            <a:ext cx="10868547" cy="1885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Drafted all sections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Polished in your voice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the hands-on exploration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Conducted user testing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Decided what claims to make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54484"/>
            <a:ext cx="538793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Attribution - Example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801912"/>
            <a:ext cx="10868547" cy="3018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Here's what a complete AI Attribution Statement looks like. Yours should reflect what YOU actually used.</a:t>
            </a:r>
            <a:endParaRPr lang="en-US" sz="1600" dirty="0"/>
          </a:p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"AI tools assisted in this investigation. Perplexity helped discover candidate sources. NotebookLM was used to verify content and extract findings, with all extractions cross-checked. Gemini compared candidate sources during filtering. Teachable Machine was the subject of the hands-on exploration. ChatGPT was used briefly for brainstorming on framing, not for content generation. All paper sections were drafted, polished, and revised by me. Where AI tools suggested phrasing, I rewrote in my own voice. My mentor provided guidance and feedback throughout but did not write any sections of this paper."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5006380"/>
            <a:ext cx="10868547" cy="711002"/>
          </a:xfrm>
          <a:prstGeom prst="roundRect">
            <a:avLst>
              <a:gd name="adj" fmla="val 34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250557"/>
            <a:ext cx="258359" cy="206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0522" y="5196483"/>
            <a:ext cx="1072389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Yours should reflect what 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actually used - be specific and honest about each tool's role.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65572"/>
            <a:ext cx="6803557" cy="48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 Your Gamma Presentation </a:t>
            </a:r>
            <a:r>
              <a:rPr lang="en-US" sz="2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🎨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574" y="1517650"/>
            <a:ext cx="10868547" cy="4574778"/>
          </a:xfrm>
          <a:prstGeom prst="roundRect">
            <a:avLst>
              <a:gd name="adj" fmla="val 48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7924" y="1524000"/>
            <a:ext cx="10855847" cy="4562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6848" y="1610717"/>
            <a:ext cx="139428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905548" y="1610717"/>
            <a:ext cx="301954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619509" y="1610717"/>
            <a:ext cx="736502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7924" y="1980208"/>
            <a:ext cx="10855847" cy="4562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16848" y="2066925"/>
            <a:ext cx="139428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905548" y="2066925"/>
            <a:ext cx="301954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9509" y="2066925"/>
            <a:ext cx="736502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 title + name + grade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7924" y="2436416"/>
            <a:ext cx="10855847" cy="4562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6848" y="2523133"/>
            <a:ext cx="139428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905548" y="2523133"/>
            <a:ext cx="301954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19509" y="2523133"/>
            <a:ext cx="736502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striking finding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7924" y="2892623"/>
            <a:ext cx="10855847" cy="4562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16848" y="2979341"/>
            <a:ext cx="139428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905548" y="2979341"/>
            <a:ext cx="301954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Question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19509" y="2979341"/>
            <a:ext cx="736502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sharpened question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7924" y="3348831"/>
            <a:ext cx="10855847" cy="4562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16848" y="3435548"/>
            <a:ext cx="139428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905548" y="3435548"/>
            <a:ext cx="301954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Background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9509" y="3435548"/>
            <a:ext cx="736502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key findings from Related Work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67924" y="3805039"/>
            <a:ext cx="10855847" cy="4562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16848" y="3891756"/>
            <a:ext cx="139428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905548" y="3891756"/>
            <a:ext cx="301954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619509" y="3891756"/>
            <a:ext cx="736502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investigated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67924" y="4261247"/>
            <a:ext cx="10855847" cy="4562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16848" y="4347964"/>
            <a:ext cx="139428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905548" y="4347964"/>
            <a:ext cx="301954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619509" y="4347964"/>
            <a:ext cx="736502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synthesis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67924" y="4717455"/>
            <a:ext cx="10855847" cy="4562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16848" y="4804172"/>
            <a:ext cx="139428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905548" y="4804172"/>
            <a:ext cx="301954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&amp; Safety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619509" y="4804172"/>
            <a:ext cx="736502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concerns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67924" y="5173663"/>
            <a:ext cx="10855847" cy="4562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16848" y="5260380"/>
            <a:ext cx="139428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905548" y="5260380"/>
            <a:ext cx="301954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619509" y="5260380"/>
            <a:ext cx="736502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takeaway + future work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67924" y="5629870"/>
            <a:ext cx="10855847" cy="4562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16848" y="5716588"/>
            <a:ext cx="139428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1905548" y="5716588"/>
            <a:ext cx="301954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4619509" y="5716588"/>
            <a:ext cx="7365022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Closing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403945"/>
            <a:ext cx="6422368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Practice Your Presentation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🎤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2187773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574" y="28078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Read Each Slide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574" y="3165574"/>
            <a:ext cx="53308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 naturally - don't read robotically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2187773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132" y="28078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Time Yourself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99132" y="3165574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Aim for 10–15 minutes total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574" y="3760887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574" y="438100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Listen Critically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574" y="4738688"/>
            <a:ext cx="53308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it sound like YOU? Are you explaining or just reading?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3760887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9132" y="438100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Rewrite Stumbles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199132" y="4738688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Spots where you stumble → rewrite those slides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61574" y="5189339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501874"/>
            <a:ext cx="6998914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Outputs Checklist - End of Today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52545" y="2353929"/>
            <a:ext cx="5351626" cy="3006725"/>
          </a:xfrm>
          <a:prstGeom prst="roundRect">
            <a:avLst>
              <a:gd name="adj" fmla="val 82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533650"/>
            <a:ext cx="253735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By End of This Session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918" y="2897684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​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&amp; Fairness section drafted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5918" y="2959596"/>
            <a:ext cx="206667" cy="206673"/>
          </a:xfrm>
          <a:prstGeom prst="roundRect">
            <a:avLst>
              <a:gd name="adj" fmla="val 15005"/>
            </a:avLst>
          </a:prstGeom>
          <a:solidFill>
            <a:srgbClr val="3257B8"/>
          </a:solidFill>
          <a:ln w="25399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92" y="3011289"/>
            <a:ext cx="124020" cy="1032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918" y="3299877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​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&amp; Governance section drafted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5918" y="3361789"/>
            <a:ext cx="206667" cy="206673"/>
          </a:xfrm>
          <a:prstGeom prst="roundRect">
            <a:avLst>
              <a:gd name="adj" fmla="val 15005"/>
            </a:avLst>
          </a:prstGeom>
          <a:solidFill>
            <a:srgbClr val="3257B8"/>
          </a:solidFill>
          <a:ln w="25399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92" y="3413482"/>
            <a:ext cx="124020" cy="1032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5918" y="3711401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​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understanding of the 5 Lenses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45918" y="3773313"/>
            <a:ext cx="206667" cy="206673"/>
          </a:xfrm>
          <a:prstGeom prst="roundRect">
            <a:avLst>
              <a:gd name="adj" fmla="val 15005"/>
            </a:avLst>
          </a:prstGeom>
          <a:solidFill>
            <a:srgbClr val="3257B8"/>
          </a:solidFill>
          <a:ln w="25399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92" y="3825006"/>
            <a:ext cx="124020" cy="1032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918" y="4100041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​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plan for homework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45918" y="4161953"/>
            <a:ext cx="206667" cy="206673"/>
          </a:xfrm>
          <a:prstGeom prst="roundRect">
            <a:avLst>
              <a:gd name="adj" fmla="val 15005"/>
            </a:avLst>
          </a:prstGeom>
          <a:solidFill>
            <a:srgbClr val="3257B8"/>
          </a:solidFill>
          <a:ln w="25399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92" y="4213646"/>
            <a:ext cx="124020" cy="103287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78495" y="2349302"/>
            <a:ext cx="5351626" cy="3006725"/>
          </a:xfrm>
          <a:prstGeom prst="roundRect">
            <a:avLst>
              <a:gd name="adj" fmla="val 82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6362838" y="2533650"/>
            <a:ext cx="245996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🏠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Coming in Homework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362838" y="2897684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​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Polish all 6 prior sections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362838" y="2959596"/>
            <a:ext cx="206667" cy="206673"/>
          </a:xfrm>
          <a:prstGeom prst="roundRect">
            <a:avLst>
              <a:gd name="adj" fmla="val 15005"/>
            </a:avLst>
          </a:prstGeom>
          <a:noFill/>
          <a:ln w="25399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6362838" y="3286323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​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 Conclusion (100–150 words)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362838" y="3348236"/>
            <a:ext cx="206667" cy="206673"/>
          </a:xfrm>
          <a:prstGeom prst="roundRect">
            <a:avLst>
              <a:gd name="adj" fmla="val 15005"/>
            </a:avLst>
          </a:prstGeom>
          <a:noFill/>
          <a:ln w="25399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6362838" y="3674963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​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Final Abstract (80 words)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362838" y="3736876"/>
            <a:ext cx="206667" cy="206673"/>
          </a:xfrm>
          <a:prstGeom prst="roundRect">
            <a:avLst>
              <a:gd name="adj" fmla="val 15005"/>
            </a:avLst>
          </a:prstGeom>
          <a:noFill/>
          <a:ln w="25399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6362838" y="4063603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​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AI Attribution Statement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362838" y="4125516"/>
            <a:ext cx="206667" cy="206673"/>
          </a:xfrm>
          <a:prstGeom prst="roundRect">
            <a:avLst>
              <a:gd name="adj" fmla="val 15005"/>
            </a:avLst>
          </a:prstGeom>
          <a:noFill/>
          <a:ln w="25399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6362838" y="4452243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​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all 9 Gamma slides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362838" y="4514155"/>
            <a:ext cx="206667" cy="206673"/>
          </a:xfrm>
          <a:prstGeom prst="roundRect">
            <a:avLst>
              <a:gd name="adj" fmla="val 15005"/>
            </a:avLst>
          </a:prstGeom>
          <a:noFill/>
          <a:ln w="25399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6362838" y="4840883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​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Practice presentation aloud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362838" y="4902795"/>
            <a:ext cx="206667" cy="206673"/>
          </a:xfrm>
          <a:prstGeom prst="roundRect">
            <a:avLst>
              <a:gd name="adj" fmla="val 15005"/>
            </a:avLst>
          </a:prstGeom>
          <a:noFill/>
          <a:ln w="25399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463873"/>
            <a:ext cx="9061719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Time - Session 25: Deliver &amp; Reflect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🎓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330351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the final session of the entire course. Come ready.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847181"/>
            <a:ext cx="5351626" cy="1025426"/>
          </a:xfrm>
          <a:prstGeom prst="roundRect">
            <a:avLst>
              <a:gd name="adj" fmla="val 241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6868" y="3012480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🎤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Present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868" y="3376513"/>
            <a:ext cx="502103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full 10–15 minute investigation presentation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8495" y="2847181"/>
            <a:ext cx="5351626" cy="1025426"/>
          </a:xfrm>
          <a:prstGeom prst="roundRect">
            <a:avLst>
              <a:gd name="adj" fmla="val 241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43789" y="3012480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⚖️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Defend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3789" y="3376513"/>
            <a:ext cx="502103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Mentor asks journal-reviewer-style questions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574" y="4037905"/>
            <a:ext cx="5351626" cy="1356221"/>
          </a:xfrm>
          <a:prstGeom prst="roundRect">
            <a:avLst>
              <a:gd name="adj" fmla="val 182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6868" y="4203204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🔄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Reflect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6868" y="4567238"/>
            <a:ext cx="5021038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the 25-session journey - what you learned, how you grew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8495" y="4037905"/>
            <a:ext cx="5351626" cy="1356221"/>
          </a:xfrm>
          <a:prstGeom prst="roundRect">
            <a:avLst>
              <a:gd name="adj" fmla="val 182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43789" y="4203204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🏆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Receive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3789" y="4567238"/>
            <a:ext cx="5021038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portfolio - paper + presentation + reflection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1300</Words>
  <Application>Microsoft Office PowerPoint</Application>
  <PresentationFormat>Widescreen</PresentationFormat>
  <Paragraphs>247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Roboto Slab</vt:lpstr>
      <vt:lpstr>Roboto Slab Light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</cp:lastModifiedBy>
  <cp:revision>2</cp:revision>
  <dcterms:created xsi:type="dcterms:W3CDTF">2026-06-18T09:46:03Z</dcterms:created>
  <dcterms:modified xsi:type="dcterms:W3CDTF">2026-06-18T10:07:48Z</dcterms:modified>
</cp:coreProperties>
</file>