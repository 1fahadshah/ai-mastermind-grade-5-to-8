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</p:sldIdLst>
  <p:sldSz cx="12192000" cy="6858000"/>
  <p:notesSz cx="6858000" cy="12192000"/>
  <p:embeddedFontLst>
    <p:embeddedFont>
      <p:font typeface="Roboto" panose="02000000000000000000" pitchFamily="2" charset="0"/>
      <p:regular r:id="rId26"/>
      <p:bold r:id="rId27"/>
      <p:italic r:id="rId28"/>
    </p:embeddedFont>
    <p:embeddedFont>
      <p:font typeface="Roboto Slab" pitchFamily="2" charset="0"/>
      <p:regular r:id="rId29"/>
    </p:embeddedFont>
    <p:embeddedFont>
      <p:font typeface="Roboto Slab Light" pitchFamily="2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47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7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70634"/>
            <a:ext cx="613851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23: Research &amp; Build</a:t>
            </a:r>
            <a:endParaRPr lang="en-US" sz="3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39998"/>
            <a:ext cx="571416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Recap - Where We Left Off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704777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Last Session: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574" y="2221607"/>
            <a:ext cx="10868547" cy="1496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Picked your domain &amp; sharpened your research question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Understood the 8-section paper structure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 5–8 verified sources (Perplexity → Gemini → NotebookLM)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Committed to a hands-on exploration plan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574" y="3904357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homework: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574" y="4421188"/>
            <a:ext cx="10868547" cy="1496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Filtered + verified your sources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Wrote one-sentence summaries of each source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Sketched your Abstract placeholder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Drafted Introduction prose (100–200 words)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88008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735435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Session, you'll have accomplished all six of these milestones. Mentor co-builds every section.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574" y="225226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514203"/>
            <a:ext cx="5351626" cy="19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574" y="263495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Deep Source Reading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574" y="2992636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2–3 sources deeply in class - extract specific findings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78495" y="225226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95" y="2514203"/>
            <a:ext cx="5351626" cy="19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8495" y="2634952"/>
            <a:ext cx="217680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Exploration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178495" y="2992636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your hands-on exploration - and document it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1574" y="354657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3792041"/>
            <a:ext cx="5351626" cy="19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1574" y="392926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 Sketch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61574" y="4286945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Sketch your Methodology section (~80–120 words)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178495" y="354657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95" y="3792041"/>
            <a:ext cx="5351626" cy="190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78495" y="392926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 Started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178495" y="4286945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your Results section - headline + 2–3 sentences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61574" y="484088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5069780"/>
            <a:ext cx="5351626" cy="190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1574" y="522357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Source Grouping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61574" y="5581253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your sources for Related Work refinement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178495" y="484088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3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95" y="5069780"/>
            <a:ext cx="5351626" cy="190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78495" y="522357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Testing Plan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178495" y="5581253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 to a user testing plan - 3–5 testers identified by name</a:t>
            </a:r>
            <a:endParaRPr lang="en-US" sz="13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CB1F46-2E91-1D95-DB80-8519FEF29F78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661574" y="2523728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161FF8-5193-9E6B-3AFD-D5AE9DF4845A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1574" y="3801566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2AB1879-5FE9-79B2-8801-036A0248E294}"/>
              </a:ext>
            </a:extLst>
          </p:cNvPr>
          <p:cNvCxnSpPr>
            <a:stCxn id="21" idx="1"/>
            <a:endCxn id="21" idx="3"/>
          </p:cNvCxnSpPr>
          <p:nvPr/>
        </p:nvCxnSpPr>
        <p:spPr>
          <a:xfrm>
            <a:off x="661574" y="5079305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21572A-53A1-E623-A517-925FF0147303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6178495" y="2523728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1F00D1A-338F-BE75-A379-5B15027D568A}"/>
              </a:ext>
            </a:extLst>
          </p:cNvPr>
          <p:cNvCxnSpPr>
            <a:stCxn id="17" idx="1"/>
            <a:endCxn id="17" idx="3"/>
          </p:cNvCxnSpPr>
          <p:nvPr/>
        </p:nvCxnSpPr>
        <p:spPr>
          <a:xfrm>
            <a:off x="6178495" y="3801566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B9DA2F0-66F8-B935-A305-ABDB5355E5C8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6178495" y="5079305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18220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TWO Threads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2082998"/>
            <a:ext cx="3065783" cy="3456682"/>
          </a:xfrm>
          <a:prstGeom prst="roundRect">
            <a:avLst>
              <a:gd name="adj" fmla="val 8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398655" y="2248297"/>
            <a:ext cx="2526542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📚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LITERATURE THREAD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98655" y="2612330"/>
            <a:ext cx="2735194" cy="1769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your sources DEEPLY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Pull out specific findings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the foundation for your Results section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464437" y="2082998"/>
            <a:ext cx="3065783" cy="3456682"/>
          </a:xfrm>
          <a:prstGeom prst="roundRect">
            <a:avLst>
              <a:gd name="adj" fmla="val 8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29732" y="2248297"/>
            <a:ext cx="233485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🛠️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HANDS-ON THREAD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29732" y="2612330"/>
            <a:ext cx="2735194" cy="2762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tool to experience how AI works in your domain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Watch what it does, where it struggles, what surprises you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Become the EVIDENCE for your investigation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678755"/>
            <a:ext cx="551245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Deep Literature Read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261566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Two-Part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1768078"/>
            <a:ext cx="5351626" cy="1394321"/>
          </a:xfrm>
          <a:prstGeom prst="roundRect">
            <a:avLst>
              <a:gd name="adj" fmla="val 1779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1952427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📚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In Class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2316460"/>
            <a:ext cx="498293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will read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2–3 sources together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build the muscle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8495" y="1768078"/>
            <a:ext cx="5351626" cy="1394321"/>
          </a:xfrm>
          <a:prstGeom prst="roundRect">
            <a:avLst>
              <a:gd name="adj" fmla="val 1779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62838" y="1952427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🏠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In Homework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2316460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You'll read the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remaining 2–5 sources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your own using the same workflow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574" y="3410446"/>
            <a:ext cx="44826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EACH source, extract these 4 things: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1574" y="3916958"/>
            <a:ext cx="2593116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5918" y="410130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 Finding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19985" y="3916958"/>
            <a:ext cx="2593216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04329" y="410130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Specific Facts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8495" y="3916958"/>
            <a:ext cx="2593116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62838" y="4101306"/>
            <a:ext cx="222442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Quotations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36905" y="3916958"/>
            <a:ext cx="2593216" cy="699492"/>
          </a:xfrm>
          <a:prstGeom prst="roundRect">
            <a:avLst>
              <a:gd name="adj" fmla="val 354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21249" y="410130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Source Relationships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1574" y="4802485"/>
            <a:ext cx="10868547" cy="1190625"/>
          </a:xfrm>
          <a:prstGeom prst="roundRect">
            <a:avLst>
              <a:gd name="adj" fmla="val 208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046663"/>
            <a:ext cx="258359" cy="20667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50522" y="4992588"/>
            <a:ext cx="10114305" cy="810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NotebookLM - it's grounded in source material and far less likely to make stuff up.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Still, always check its answers against the actual source.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733649"/>
            <a:ext cx="732652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Reading ONE Source - Step by Step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2634754"/>
            <a:ext cx="165294" cy="16529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4" y="2843014"/>
            <a:ext cx="3512653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574" y="2963763"/>
            <a:ext cx="29436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Upload Source to NotebookLM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9521" y="2634754"/>
            <a:ext cx="165294" cy="16529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521" y="2843014"/>
            <a:ext cx="3512653" cy="190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339521" y="2963763"/>
            <a:ext cx="2198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Find the Main Finding</a:t>
            </a:r>
            <a:endParaRPr lang="en-US" sz="16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634754"/>
            <a:ext cx="165294" cy="16529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68" y="2843014"/>
            <a:ext cx="3512653" cy="1905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017468" y="296376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Gather Evidence</a:t>
            </a:r>
            <a:endParaRPr lang="en-US" sz="16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574" y="3532188"/>
            <a:ext cx="165294" cy="165298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74" y="3756918"/>
            <a:ext cx="5351626" cy="1905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661574" y="389423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Identify Limitations</a:t>
            </a:r>
            <a:endParaRPr lang="en-US" sz="16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8495" y="3532188"/>
            <a:ext cx="165294" cy="165298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8495" y="3756918"/>
            <a:ext cx="5351626" cy="1905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6178495" y="3894237"/>
            <a:ext cx="222730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Save to Your Notes Doc</a:t>
            </a:r>
            <a:endParaRPr lang="en-US" sz="1600" dirty="0"/>
          </a:p>
        </p:txBody>
      </p:sp>
      <p:sp>
        <p:nvSpPr>
          <p:cNvPr id="18" name="Text 6"/>
          <p:cNvSpPr/>
          <p:nvPr/>
        </p:nvSpPr>
        <p:spPr>
          <a:xfrm>
            <a:off x="661574" y="4462760"/>
            <a:ext cx="10868547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homework - apply the same 5 steps to the remaining sources, solo.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skim. Don't trust the summary. Get into the actual content.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B40B32-FBBF-3928-E32C-61B150F8F58A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661574" y="2852539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C5855A-486E-9F5F-7AA6-976820EAC759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4339521" y="2852539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7DF933-9576-9413-97B5-CBE15DF6A785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8017468" y="2852539"/>
            <a:ext cx="3512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FE0EFC7-FEB9-5F6F-DFDA-93484B1BA9CE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661574" y="3766443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6BD8256-03DB-3BF1-4D54-13314D76337B}"/>
              </a:ext>
            </a:extLst>
          </p:cNvPr>
          <p:cNvCxnSpPr>
            <a:stCxn id="16" idx="1"/>
            <a:endCxn id="16" idx="3"/>
          </p:cNvCxnSpPr>
          <p:nvPr/>
        </p:nvCxnSpPr>
        <p:spPr>
          <a:xfrm>
            <a:off x="6178495" y="3766443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2104926"/>
            <a:ext cx="622592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Synthesizing Across Sources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869704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3386534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1676" y="3386534"/>
            <a:ext cx="22979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Where do they AGREE?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1676" y="3744218"/>
            <a:ext cx="47107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3386534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9233" y="3386534"/>
            <a:ext cx="25741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Where do they DISAGREE?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574" y="4339530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1676" y="4339530"/>
            <a:ext cx="208721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Unique Contributions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4339530"/>
            <a:ext cx="413434" cy="41344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19233" y="433953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Repeated Examples?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604764"/>
            <a:ext cx="505100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Pattern to Watch For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452191"/>
            <a:ext cx="10868547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sources fall into rough groupings. Organize Related Work around these - not source-by-source. 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Organizing around groupings = your Related Work feels like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research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4002683"/>
            <a:ext cx="259311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4167981"/>
            <a:ext cx="496081" cy="49609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291" y="4304308"/>
            <a:ext cx="223237" cy="2232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6868" y="482937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AI DOES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419985" y="4002683"/>
            <a:ext cx="259321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279" y="4167981"/>
            <a:ext cx="496081" cy="49609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21701" y="4304308"/>
            <a:ext cx="223237" cy="2232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585279" y="482937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Well It Works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178495" y="4002683"/>
            <a:ext cx="259311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789" y="4167981"/>
            <a:ext cx="496081" cy="49609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0211" y="4304308"/>
            <a:ext cx="223237" cy="22324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343789" y="482937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Concerns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8936905" y="4002683"/>
            <a:ext cx="2593216" cy="1250454"/>
          </a:xfrm>
          <a:prstGeom prst="roundRect">
            <a:avLst>
              <a:gd name="adj" fmla="val 198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200" y="4167981"/>
            <a:ext cx="496081" cy="496094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38622" y="4304308"/>
            <a:ext cx="223237" cy="22324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102200" y="482937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Policy &amp; Regulation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57312"/>
            <a:ext cx="798036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1 - Group YOUR Sources!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404739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your 5–8 sources into 2–4 categories. Most sources will fit into 2- 3 groups.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1921570"/>
            <a:ext cx="10868547" cy="3296047"/>
          </a:xfrm>
          <a:prstGeom prst="roundRect">
            <a:avLst>
              <a:gd name="adj" fmla="val 75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3317" y="2033488"/>
            <a:ext cx="461812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78792" y="2033488"/>
            <a:ext cx="678927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Group?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317" y="2581771"/>
            <a:ext cx="461812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1: ___________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78792" y="2581771"/>
            <a:ext cx="678927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(e.g., "What AI Does")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3317" y="3130054"/>
            <a:ext cx="461812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2: ___________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78792" y="3130054"/>
            <a:ext cx="678927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(e.g., "Concerns")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317" y="3678337"/>
            <a:ext cx="461812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3: ___________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78792" y="3678337"/>
            <a:ext cx="678927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(e.g., "How Well It Works")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3317" y="4226620"/>
            <a:ext cx="461812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4: ___________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78792" y="4226620"/>
            <a:ext cx="678927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(e.g., "Policy")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317" y="4774902"/>
            <a:ext cx="461812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5: ___________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8792" y="4774902"/>
            <a:ext cx="678927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(e.g., "Concerns")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1574" y="5403652"/>
            <a:ext cx="10868547" cy="711002"/>
          </a:xfrm>
          <a:prstGeom prst="roundRect">
            <a:avLst>
              <a:gd name="adj" fmla="val 34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647829"/>
            <a:ext cx="258359" cy="20667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50522" y="5593755"/>
            <a:ext cx="1072389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grouping = the BACKBONE of your Related Work section.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692870"/>
            <a:ext cx="8164110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Time for the Hands-On Exploration!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🛠️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476698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 the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part. You actually use AI in your domain.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2993529"/>
            <a:ext cx="5351626" cy="2171601"/>
          </a:xfrm>
          <a:prstGeom prst="roundRect">
            <a:avLst>
              <a:gd name="adj" fmla="val 114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3177877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this IS: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3541911"/>
            <a:ext cx="4982939" cy="1438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learning activity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gives you firsthand experience with how AI works in your area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observations become part of your paper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8495" y="2993529"/>
            <a:ext cx="5351626" cy="2171601"/>
          </a:xfrm>
          <a:prstGeom prst="roundRect">
            <a:avLst>
              <a:gd name="adj" fmla="val 114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62838" y="3177877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this ISN'T: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3541911"/>
            <a:ext cx="4982939" cy="71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the MAIN contribution of your paper</a:t>
            </a:r>
            <a:endParaRPr lang="en-US" sz="15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"I built a new AI"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772245"/>
            <a:ext cx="627513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Set Up the Exploration FIRST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619673"/>
            <a:ext cx="10868547" cy="8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you touch your tool,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DOWN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your setup notes.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Writing down your setup = the difference between "research exploration" and "playing around."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3653334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3837682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🛠️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Which tool?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8495" y="3653334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62838" y="3837682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🔬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will I try?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574" y="4452144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5918" y="4636492"/>
            <a:ext cx="349618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🤔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do I PREDICT will happen?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8495" y="4452144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2838" y="4636492"/>
            <a:ext cx="272973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👀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am I watching for?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2030710"/>
            <a:ext cx="723872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While You Explore - Pay Attention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878138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you do the exploration,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ACTIVELY observe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take notes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3394968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3579316"/>
            <a:ext cx="298115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does the tool do well?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8495" y="3394968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62838" y="3579316"/>
            <a:ext cx="3206571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Where does it struggle or fail?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574" y="4193778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5918" y="4378127"/>
            <a:ext cx="306379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😲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Does anything surprise you?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8495" y="4193778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2838" y="4378127"/>
            <a:ext cx="303204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🤝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Does it match your sources?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69764"/>
            <a:ext cx="761375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 of Hands On Explorations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1817191"/>
            <a:ext cx="10868547" cy="4070945"/>
          </a:xfrm>
          <a:prstGeom prst="roundRect">
            <a:avLst>
              <a:gd name="adj" fmla="val 6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3317" y="1929110"/>
            <a:ext cx="2222147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76468" y="1929110"/>
            <a:ext cx="503274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Student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30217" y="1929110"/>
            <a:ext cx="4437844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to Watch For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317" y="2477393"/>
            <a:ext cx="2222147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allergies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76468" y="2477393"/>
            <a:ext cx="4423160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Teachable Machine on peanut/no-peanut food photos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30217" y="2477393"/>
            <a:ext cx="3828260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it works, where it fails, confidence vs. accuracy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317" y="3356471"/>
            <a:ext cx="2222147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Music education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76468" y="3356471"/>
            <a:ext cx="4423160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ElevenLabs to generate same sentence in 5 emotions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30217" y="3356471"/>
            <a:ext cx="3828260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emotions distinct? Can listeners ID them?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3317" y="4235549"/>
            <a:ext cx="2222147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Wildlife 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76468" y="4235549"/>
            <a:ext cx="503274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iNaturalist on 15 local plants/animals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30217" y="4235549"/>
            <a:ext cx="3828260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species confident? Which wrong? How handles unclear photos?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317" y="5114627"/>
            <a:ext cx="2222147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 practice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76468" y="5114627"/>
            <a:ext cx="4423160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ChatGPT to generate problems at different grade levels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30217" y="5114627"/>
            <a:ext cx="4437844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Quality, errors, difficulty matching grade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22400"/>
            <a:ext cx="6215899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 On - RUN IT NOW!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🚀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20622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468166"/>
            <a:ext cx="5351626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574" y="258891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Open your tool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78495" y="220622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95" y="2468166"/>
            <a:ext cx="5351626" cy="19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8495" y="2588915"/>
            <a:ext cx="24258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Run your test as planned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61574" y="313670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3382070"/>
            <a:ext cx="5351626" cy="19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574" y="3519388"/>
            <a:ext cx="26416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Save screenshots as you go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178495" y="313670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95" y="3382070"/>
            <a:ext cx="5351626" cy="190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8495" y="3519388"/>
            <a:ext cx="30199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Write observations in real time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61574" y="4087912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1574" y="4505523"/>
            <a:ext cx="10868547" cy="711002"/>
          </a:xfrm>
          <a:prstGeom prst="roundRect">
            <a:avLst>
              <a:gd name="adj" fmla="val 34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68" y="4749701"/>
            <a:ext cx="258359" cy="2066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50522" y="4728666"/>
            <a:ext cx="1072389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heart of today. By the end: you have evidence + screenshots + observations.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F89872-73EF-F3D6-122B-62742407169A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661574" y="2477691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C6533B-5213-8254-FD9A-F7ED574A6696}"/>
              </a:ext>
            </a:extLst>
          </p:cNvPr>
          <p:cNvCxnSpPr/>
          <p:nvPr/>
        </p:nvCxnSpPr>
        <p:spPr>
          <a:xfrm>
            <a:off x="6141750" y="2480797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D96806-EE38-FF03-E05F-90D23AB099F3}"/>
              </a:ext>
            </a:extLst>
          </p:cNvPr>
          <p:cNvCxnSpPr/>
          <p:nvPr/>
        </p:nvCxnSpPr>
        <p:spPr>
          <a:xfrm>
            <a:off x="664682" y="3423188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002633-E5C3-715C-3649-2B098B343DD4}"/>
              </a:ext>
            </a:extLst>
          </p:cNvPr>
          <p:cNvCxnSpPr/>
          <p:nvPr/>
        </p:nvCxnSpPr>
        <p:spPr>
          <a:xfrm>
            <a:off x="6160415" y="3423193"/>
            <a:ext cx="5351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356816"/>
            <a:ext cx="627939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Document Your Observations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204244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388592"/>
            <a:ext cx="210467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📝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worked well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8495" y="2204244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62838" y="2388592"/>
            <a:ext cx="211469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📝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Where it struggled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3003054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3187402"/>
            <a:ext cx="222839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📝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surprised you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8495" y="3003054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62838" y="3187402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📝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you learned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574" y="3822601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574" y="4273252"/>
            <a:ext cx="10868547" cy="1041797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4517430"/>
            <a:ext cx="258359" cy="20667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50522" y="4463355"/>
            <a:ext cx="10114305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Vague = useless. Replace </a:t>
            </a:r>
            <a:r>
              <a:rPr lang="en-US" sz="16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"it was kinda bad"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</a:t>
            </a:r>
            <a:r>
              <a:rPr lang="en-US" sz="16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"it misidentified the peanut sauce 3 out of 5 times even at high confidence."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15764"/>
            <a:ext cx="525310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 Methodology Now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1563191"/>
            <a:ext cx="5351626" cy="1387971"/>
          </a:xfrm>
          <a:prstGeom prst="roundRect">
            <a:avLst>
              <a:gd name="adj" fmla="val 178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174754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Brief Restatement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918" y="2105223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were investigating - state your core research question or focus in 1–2 sentences.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8495" y="1563191"/>
            <a:ext cx="5351626" cy="1387971"/>
          </a:xfrm>
          <a:prstGeom prst="roundRect">
            <a:avLst>
              <a:gd name="adj" fmla="val 178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62838" y="174754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Literature 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2838" y="2105223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sources you used, how you found them, and how you verified their credibility.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574" y="3116461"/>
            <a:ext cx="5351626" cy="1387971"/>
          </a:xfrm>
          <a:prstGeom prst="roundRect">
            <a:avLst>
              <a:gd name="adj" fmla="val 178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5918" y="330080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Exploration Setup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918" y="3658493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tool you used, what you tried, and what you observed or watched for.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8495" y="3116461"/>
            <a:ext cx="5351626" cy="1387971"/>
          </a:xfrm>
          <a:prstGeom prst="roundRect">
            <a:avLst>
              <a:gd name="adj" fmla="val 1787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62838" y="330080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Synthesis Note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2838" y="3658493"/>
            <a:ext cx="4982939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combined the two threads - literature and exploration - into a unified approach.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89087"/>
            <a:ext cx="498909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 Example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636514"/>
            <a:ext cx="10868547" cy="3018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Here's what a finished Methodology section looks like. Yours should look like this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YOUR voice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"This investigation drew on two threads. For the literature thread, I used Perplexity to find 12 sources about AI in food allergy management, then narrowed to 6 using a credibility checklist. I verified each in NotebookLM. For the hands-on thread, I trained a Teachable Machine classifier to tell peanut foods from non-peanut foods using 15 photos per class. I tested it on 10 new photos. I observed where it worked, where it failed, and whether it matched what my sources described. I synthesized both threads by comparing the classifier's failure patterns to the bias patterns the literature flagged."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4840982"/>
            <a:ext cx="10868547" cy="1041797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085159"/>
            <a:ext cx="258359" cy="206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0522" y="5031085"/>
            <a:ext cx="10114305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That's a real Methodology section. Notice: specific numbers, specific tools, specific observations - all in a student's natural voice.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665068"/>
            <a:ext cx="637494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Drafting Results - Start Today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512496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= where literature meets your exploration.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SYNTHESIS.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3029326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3213675"/>
            <a:ext cx="260700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📚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Key Literature Findings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8495" y="3029326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362838" y="3213675"/>
            <a:ext cx="2254392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🛠️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Exploration Reveals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574" y="3828136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5918" y="4012485"/>
            <a:ext cx="258934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Where They Confirmed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8495" y="3828136"/>
            <a:ext cx="5351626" cy="633512"/>
          </a:xfrm>
          <a:prstGeom prst="roundRect">
            <a:avLst>
              <a:gd name="adj" fmla="val 391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2838" y="401248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🔍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NEW Discoveries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574" y="4647683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905669"/>
            <a:ext cx="4876876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Honesty Reminder </a:t>
            </a:r>
            <a:r>
              <a:rPr lang="en-US" sz="3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⚖️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1689497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1873845"/>
            <a:ext cx="81253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If the tool worked imperfectly → say so, Partial success is still honest, valuable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574" y="2481957"/>
            <a:ext cx="10868547" cy="885627"/>
          </a:xfrm>
          <a:prstGeom prst="roundRect">
            <a:avLst>
              <a:gd name="adj" fmla="val 280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5918" y="2666305"/>
            <a:ext cx="1049985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If something was WORSE than expected → say that. Negative findings often = the MOST interesting discoveries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3532882"/>
            <a:ext cx="10868547" cy="885627"/>
          </a:xfrm>
          <a:prstGeom prst="roundRect">
            <a:avLst>
              <a:gd name="adj" fmla="val 280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3717230"/>
            <a:ext cx="1049985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Bias and safety problems live in the failure cases - The best researchers report what failed - that's where the real insight 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1574" y="4604544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574" y="5055195"/>
            <a:ext cx="10868547" cy="711002"/>
          </a:xfrm>
          <a:prstGeom prst="roundRect">
            <a:avLst>
              <a:gd name="adj" fmla="val 34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299373"/>
            <a:ext cx="258359" cy="2066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50522" y="5245298"/>
            <a:ext cx="1072389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what DIDN'T work. 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shape your Results to look impressive. Shape them to be </a:t>
            </a: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899245"/>
            <a:ext cx="562397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Refine Your Related Work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574" y="2746673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5918" y="2931021"/>
            <a:ext cx="30940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Are you happy with the groups?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574" y="3539133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5918" y="3723481"/>
            <a:ext cx="339587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Did today's reading shift anything?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574" y="4331593"/>
            <a:ext cx="10868547" cy="627162"/>
          </a:xfrm>
          <a:prstGeom prst="roundRect">
            <a:avLst>
              <a:gd name="adj" fmla="val 395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5918" y="4515941"/>
            <a:ext cx="25892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Move one source if needed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62273"/>
            <a:ext cx="725975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Testing - Plan for Homework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409700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homework: </a:t>
            </a:r>
            <a:r>
              <a:rPr lang="en-US" sz="1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3–5 people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try YOUR exploration and tell you what they noticed.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574" y="1926530"/>
            <a:ext cx="5351626" cy="2717502"/>
          </a:xfrm>
          <a:prstGeom prst="roundRect">
            <a:avLst>
              <a:gd name="adj" fmla="val 91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5918" y="2110879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👥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Who?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2474913"/>
            <a:ext cx="4982939" cy="1984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Family, friends, teacher, even a kind neighbor. Don't stress about "diversity" - just get honest reactions from a few different people. If you can include one person who's different from you in some way (age, background, comfort with tech), their reaction is often the most interesting finding.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8495" y="1926530"/>
            <a:ext cx="5351626" cy="2717502"/>
          </a:xfrm>
          <a:prstGeom prst="roundRect">
            <a:avLst>
              <a:gd name="adj" fmla="val 91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62838" y="2110879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❓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What you ask: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2474913"/>
            <a:ext cx="4982939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did the tool seem to do well?"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"Where did it confuse you?"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"Did anything surprise you?"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"Would you trust this for [your domain's purpose]?"</a:t>
            </a:r>
            <a:endParaRPr lang="en-US" sz="16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would make you trust it more?"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574" y="4892080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1574" y="5398591"/>
            <a:ext cx="10868547" cy="711002"/>
          </a:xfrm>
          <a:prstGeom prst="roundRect">
            <a:avLst>
              <a:gd name="adj" fmla="val 34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642769"/>
            <a:ext cx="258359" cy="20667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50522" y="5588695"/>
            <a:ext cx="1072389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each tester: write down who they are, what they tried, their reactions, patterns across testers.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1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10814"/>
            <a:ext cx="8688269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Outputs Checklist - Did You Hit Everything?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661574" y="2063849"/>
            <a:ext cx="2573571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In-Class Outputs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574" y="2471341"/>
            <a:ext cx="5242588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2–3 sources read deeply in class with mentor scaffolding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574" y="2526209"/>
            <a:ext cx="196349" cy="196354"/>
          </a:xfrm>
          <a:prstGeom prst="roundRect">
            <a:avLst>
              <a:gd name="adj" fmla="val 15004"/>
            </a:avLst>
          </a:prstGeom>
          <a:solidFill>
            <a:srgbClr val="3257B8"/>
          </a:solidFill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64" y="2575322"/>
            <a:ext cx="117770" cy="981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574" y="3136305"/>
            <a:ext cx="5242588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exploration completed (with named screenshots: Figure 1, Figure 2…)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1574" y="3191173"/>
            <a:ext cx="196349" cy="196354"/>
          </a:xfrm>
          <a:prstGeom prst="roundRect">
            <a:avLst>
              <a:gd name="adj" fmla="val 15004"/>
            </a:avLst>
          </a:prstGeom>
          <a:solidFill>
            <a:srgbClr val="3257B8"/>
          </a:solidFill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64" y="3240286"/>
            <a:ext cx="117770" cy="981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1574" y="3801269"/>
            <a:ext cx="1745724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Observations documented (specific, not vague)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61574" y="3856137"/>
            <a:ext cx="196349" cy="196354"/>
          </a:xfrm>
          <a:prstGeom prst="roundRect">
            <a:avLst>
              <a:gd name="adj" fmla="val 15004"/>
            </a:avLst>
          </a:prstGeom>
          <a:solidFill>
            <a:srgbClr val="3257B8"/>
          </a:solidFill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64" y="3905250"/>
            <a:ext cx="117770" cy="981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1574" y="4159845"/>
            <a:ext cx="585217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 section sketched (~80–120 words)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61574" y="4214713"/>
            <a:ext cx="196349" cy="196354"/>
          </a:xfrm>
          <a:prstGeom prst="roundRect">
            <a:avLst>
              <a:gd name="adj" fmla="val 15004"/>
            </a:avLst>
          </a:prstGeom>
          <a:solidFill>
            <a:srgbClr val="3257B8"/>
          </a:solidFill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64" y="4263827"/>
            <a:ext cx="117770" cy="981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1574" y="4518422"/>
            <a:ext cx="585217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section started (headline + 2–3 sentences)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61574" y="4573290"/>
            <a:ext cx="196349" cy="196354"/>
          </a:xfrm>
          <a:prstGeom prst="roundRect">
            <a:avLst>
              <a:gd name="adj" fmla="val 15004"/>
            </a:avLst>
          </a:prstGeom>
          <a:solidFill>
            <a:srgbClr val="3257B8"/>
          </a:solidFill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64" y="4622403"/>
            <a:ext cx="117770" cy="9812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1574" y="4876998"/>
            <a:ext cx="5242588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grouped for Related Work (with any updates from today's reading)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61574" y="4931866"/>
            <a:ext cx="196349" cy="196354"/>
          </a:xfrm>
          <a:prstGeom prst="roundRect">
            <a:avLst>
              <a:gd name="adj" fmla="val 15004"/>
            </a:avLst>
          </a:prstGeom>
          <a:solidFill>
            <a:srgbClr val="3257B8"/>
          </a:solidFill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64" y="4980980"/>
            <a:ext cx="117770" cy="9812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61574" y="5541963"/>
            <a:ext cx="5242588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testing plan committed - 3–5 testers identified by NAME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661574" y="5596830"/>
            <a:ext cx="196349" cy="196354"/>
          </a:xfrm>
          <a:prstGeom prst="roundRect">
            <a:avLst>
              <a:gd name="adj" fmla="val 15004"/>
            </a:avLst>
          </a:prstGeom>
          <a:solidFill>
            <a:srgbClr val="3257B8"/>
          </a:solidFill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64" y="5645944"/>
            <a:ext cx="117770" cy="9812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93883" y="2063849"/>
            <a:ext cx="2946723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🏠</a:t>
            </a:r>
            <a:r>
              <a:rPr lang="en-US" sz="1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Coming in Homework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6293883" y="2471341"/>
            <a:ext cx="585217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Deep-read the remaining 2–5 sources solo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6293883" y="2526209"/>
            <a:ext cx="196349" cy="196354"/>
          </a:xfrm>
          <a:prstGeom prst="roundRect">
            <a:avLst>
              <a:gd name="adj" fmla="val 15004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0"/>
          <p:cNvSpPr/>
          <p:nvPr/>
        </p:nvSpPr>
        <p:spPr>
          <a:xfrm>
            <a:off x="6293883" y="2829917"/>
            <a:ext cx="585217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Related Work with all sources read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6293883" y="2884785"/>
            <a:ext cx="196349" cy="196354"/>
          </a:xfrm>
          <a:prstGeom prst="roundRect">
            <a:avLst>
              <a:gd name="adj" fmla="val 15004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/>
          <p:nvPr/>
        </p:nvSpPr>
        <p:spPr>
          <a:xfrm>
            <a:off x="6293883" y="3188494"/>
            <a:ext cx="585217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Methodology + Results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293883" y="3243362"/>
            <a:ext cx="196349" cy="196354"/>
          </a:xfrm>
          <a:prstGeom prst="roundRect">
            <a:avLst>
              <a:gd name="adj" fmla="val 15004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4"/>
          <p:cNvSpPr/>
          <p:nvPr/>
        </p:nvSpPr>
        <p:spPr>
          <a:xfrm>
            <a:off x="6293883" y="3547070"/>
            <a:ext cx="5852172" cy="30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​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user testing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6293883" y="3601938"/>
            <a:ext cx="196349" cy="196354"/>
          </a:xfrm>
          <a:prstGeom prst="roundRect">
            <a:avLst>
              <a:gd name="adj" fmla="val 15004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700484"/>
            <a:ext cx="516936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Time - Session 24: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283295"/>
            <a:ext cx="480236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Analyze &amp; Synthesize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574" y="2048073"/>
            <a:ext cx="11478132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Bring everything to S24: refined Related Work, Methodology, expanded Results, user testing notes, 3 surprises.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574" y="2564904"/>
            <a:ext cx="3512653" cy="496094"/>
          </a:xfrm>
          <a:prstGeom prst="roundRect">
            <a:avLst>
              <a:gd name="adj" fmla="val 48007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3880" y="2688828"/>
            <a:ext cx="248041" cy="248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6868" y="322629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Apply the 5 Lenses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868" y="3583980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Bias, Safety, Ethics, Human-in-the-Loop, Voice Integrity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9521" y="2564904"/>
            <a:ext cx="3512653" cy="496094"/>
          </a:xfrm>
          <a:prstGeom prst="roundRect">
            <a:avLst>
              <a:gd name="adj" fmla="val 48007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1827" y="2688828"/>
            <a:ext cx="248041" cy="2480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4815" y="322629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 Bias &amp; Fairness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04815" y="3583980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section written and refined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17468" y="2564904"/>
            <a:ext cx="3512653" cy="496094"/>
          </a:xfrm>
          <a:prstGeom prst="roundRect">
            <a:avLst>
              <a:gd name="adj" fmla="val 48007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9774" y="2688828"/>
            <a:ext cx="248041" cy="2480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82762" y="3226296"/>
            <a:ext cx="25395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 Safety &amp; Governance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182762" y="3583980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section written and refined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61574" y="4443809"/>
            <a:ext cx="3512653" cy="496094"/>
          </a:xfrm>
          <a:prstGeom prst="roundRect">
            <a:avLst>
              <a:gd name="adj" fmla="val 48007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93880" y="4567734"/>
            <a:ext cx="248041" cy="2480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6868" y="5105202"/>
            <a:ext cx="30905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 Conclusion &amp; Future Work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26868" y="5462885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Wrap up your investigation with forward-looking insights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339521" y="4443809"/>
            <a:ext cx="3512653" cy="496094"/>
          </a:xfrm>
          <a:prstGeom prst="roundRect">
            <a:avLst>
              <a:gd name="adj" fmla="val 48007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1827" y="4567734"/>
            <a:ext cx="248041" cy="2480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04815" y="510520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Polish All 6 Sections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504815" y="5462885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Abstract + AI Attribution Statement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017468" y="4443809"/>
            <a:ext cx="3512653" cy="496094"/>
          </a:xfrm>
          <a:prstGeom prst="roundRect">
            <a:avLst>
              <a:gd name="adj" fmla="val 48007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9774" y="4567734"/>
            <a:ext cx="248041" cy="2480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82762" y="5105202"/>
            <a:ext cx="25820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 Gamma Presentation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182762" y="5462885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3 slides of your final presentation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1624</Words>
  <Application>Microsoft Office PowerPoint</Application>
  <PresentationFormat>Widescreen</PresentationFormat>
  <Paragraphs>234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Roboto Slab</vt:lpstr>
      <vt:lpstr>Roboto Slab Light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</cp:lastModifiedBy>
  <cp:revision>2</cp:revision>
  <dcterms:created xsi:type="dcterms:W3CDTF">2026-06-18T10:10:15Z</dcterms:created>
  <dcterms:modified xsi:type="dcterms:W3CDTF">2026-06-18T10:27:56Z</dcterms:modified>
</cp:coreProperties>
</file>